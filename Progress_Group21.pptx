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931"/>
    <p:restoredTop sz="94668"/>
  </p:normalViewPr>
  <p:slideViewPr>
    <p:cSldViewPr snapToGrid="0" snapToObjects="1">
      <p:cViewPr varScale="1">
        <p:scale>
          <a:sx n="115" d="100"/>
          <a:sy n="115" d="100"/>
        </p:scale>
        <p:origin x="224" y="2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3CB8C2-4F67-2948-9F5A-DF6E7051B3A5}" type="datetimeFigureOut">
              <a:rPr lang="de-DE" smtClean="0"/>
              <a:t>21.05.26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2E9682-DFA9-8D46-92C9-58ED01C1857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8383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2E9682-DFA9-8D46-92C9-58ED01C1857C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2091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7772400" cy="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49640" y="411480"/>
            <a:ext cx="164592" cy="164592"/>
          </a:xfrm>
          <a:prstGeom prst="ellipse">
            <a:avLst/>
          </a:prstGeom>
          <a:solidFill>
            <a:srgbClr val="1A4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23245"/>
            <a:ext cx="11314027" cy="1354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de-DE" sz="8800" b="1" i="0" dirty="0">
                <a:solidFill>
                  <a:srgbClr val="1F2A44"/>
                </a:solidFill>
                <a:latin typeface="Georgia"/>
              </a:rPr>
              <a:t>Progress Check</a:t>
            </a:r>
            <a:endParaRPr sz="8800" b="1" i="0" dirty="0">
              <a:solidFill>
                <a:srgbClr val="1F2A44"/>
              </a:solidFill>
              <a:latin typeface="Georgia"/>
            </a:endParaRPr>
          </a:p>
        </p:txBody>
      </p:sp>
      <p:sp>
        <p:nvSpPr>
          <p:cNvPr id="5" name="Oval 4"/>
          <p:cNvSpPr/>
          <p:nvPr/>
        </p:nvSpPr>
        <p:spPr>
          <a:xfrm>
            <a:off x="6263640" y="3520440"/>
            <a:ext cx="292608" cy="292608"/>
          </a:xfrm>
          <a:prstGeom prst="ellipse">
            <a:avLst/>
          </a:prstGeom>
          <a:solidFill>
            <a:srgbClr val="1A4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132320" y="2743200"/>
            <a:ext cx="146304" cy="146304"/>
          </a:xfrm>
          <a:prstGeom prst="ellipse">
            <a:avLst/>
          </a:prstGeom>
          <a:solidFill>
            <a:srgbClr val="1A4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7315200" cy="1720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de-DE" sz="3200" dirty="0">
                <a:solidFill>
                  <a:srgbClr val="1F2A44"/>
                </a:solidFill>
                <a:latin typeface="Georgia"/>
              </a:rPr>
              <a:t>Group 21, ID: </a:t>
            </a:r>
          </a:p>
          <a:p>
            <a:pPr>
              <a:lnSpc>
                <a:spcPct val="120000"/>
              </a:lnSpc>
            </a:pPr>
            <a:r>
              <a:rPr lang="de-DE" sz="3200" dirty="0">
                <a:solidFill>
                  <a:srgbClr val="1F2A44"/>
                </a:solidFill>
                <a:latin typeface="Georgia"/>
              </a:rPr>
              <a:t>114705804</a:t>
            </a:r>
          </a:p>
          <a:p>
            <a:pPr>
              <a:lnSpc>
                <a:spcPct val="120000"/>
              </a:lnSpc>
            </a:pPr>
            <a:r>
              <a:rPr lang="de-DE" sz="3200" dirty="0">
                <a:solidFill>
                  <a:srgbClr val="1F2A44"/>
                </a:solidFill>
                <a:latin typeface="Georgia"/>
              </a:rPr>
              <a:t>114705803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9EA3B2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7772400" cy="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49640" y="411480"/>
            <a:ext cx="164592" cy="164592"/>
          </a:xfrm>
          <a:prstGeom prst="ellipse">
            <a:avLst/>
          </a:prstGeom>
          <a:solidFill>
            <a:srgbClr val="1A4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de-DE" sz="3600" b="1" i="0" dirty="0">
                <a:solidFill>
                  <a:srgbClr val="1F2A44"/>
                </a:solidFill>
                <a:latin typeface="Georgia"/>
              </a:rPr>
              <a:t>Data Processing</a:t>
            </a:r>
            <a:endParaRPr sz="3600" b="1" i="0" dirty="0">
              <a:solidFill>
                <a:srgbClr val="1F2A44"/>
              </a:solidFill>
              <a:latin typeface="Georgia"/>
            </a:endParaRPr>
          </a:p>
        </p:txBody>
      </p:sp>
      <p:sp>
        <p:nvSpPr>
          <p:cNvPr id="5" name="Oval 4"/>
          <p:cNvSpPr/>
          <p:nvPr/>
        </p:nvSpPr>
        <p:spPr>
          <a:xfrm>
            <a:off x="640080" y="1783080"/>
            <a:ext cx="146304" cy="146304"/>
          </a:xfrm>
          <a:prstGeom prst="ellipse">
            <a:avLst/>
          </a:prstGeom>
          <a:solidFill>
            <a:srgbClr val="1A4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F6818EF4-7BB5-C3AD-A181-8BD4BEF31846}"/>
              </a:ext>
            </a:extLst>
          </p:cNvPr>
          <p:cNvSpPr txBox="1"/>
          <p:nvPr/>
        </p:nvSpPr>
        <p:spPr>
          <a:xfrm>
            <a:off x="1025912" y="1783080"/>
            <a:ext cx="1014761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>
                <a:solidFill>
                  <a:srgbClr val="1F2A44"/>
                </a:solidFill>
                <a:latin typeface="Georgia"/>
              </a:rPr>
              <a:t>We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started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by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loading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and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analyzing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the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complete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dataset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of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2,248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regions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with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16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meteorological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features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(wind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speed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,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temperature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,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humidity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,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pressure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,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precipitation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, etc.).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We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identified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that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the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target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variable (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drought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severity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score)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is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only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recorded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on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Fridays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(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weekly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),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with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NaN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values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for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the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other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6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days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.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We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handled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missing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values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through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region-specific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mean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imputation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and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checked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for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outliers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in all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meteorological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variables. Initial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exploratory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analysis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revealed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temporal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patterns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and regional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variations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in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drought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severity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.</a:t>
            </a:r>
          </a:p>
          <a:p>
            <a:endParaRPr lang="de-DE" sz="1600" dirty="0">
              <a:solidFill>
                <a:srgbClr val="1F2A44"/>
              </a:solidFill>
              <a:latin typeface="Georgia"/>
            </a:endParaRPr>
          </a:p>
          <a:p>
            <a:r>
              <a:rPr lang="de-DE" sz="1600" dirty="0" err="1">
                <a:solidFill>
                  <a:srgbClr val="1F2A44"/>
                </a:solidFill>
                <a:latin typeface="Georgia"/>
              </a:rPr>
              <a:t>Beyond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the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raw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meteorological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features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,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we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created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a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comprehensive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feature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engineering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pipeline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including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:</a:t>
            </a:r>
          </a:p>
          <a:p>
            <a:r>
              <a:rPr lang="de-DE" sz="1600" dirty="0">
                <a:solidFill>
                  <a:srgbClr val="1F2A44"/>
                </a:solidFill>
                <a:latin typeface="Georgia"/>
              </a:rPr>
              <a:t>Temporal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features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: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Lagged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features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(t-1, t-7, t-14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days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)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to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capture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recent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history</a:t>
            </a:r>
            <a:endParaRPr lang="de-DE" sz="1600" dirty="0">
              <a:solidFill>
                <a:srgbClr val="1F2A44"/>
              </a:solidFill>
              <a:latin typeface="Georgia"/>
            </a:endParaRPr>
          </a:p>
          <a:p>
            <a:r>
              <a:rPr lang="de-DE" sz="1600" dirty="0">
                <a:solidFill>
                  <a:srgbClr val="1F2A44"/>
                </a:solidFill>
                <a:latin typeface="Georgia"/>
              </a:rPr>
              <a:t>Rolling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statistics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: 7-day and 14-day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rolling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means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and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standard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deviations</a:t>
            </a:r>
            <a:endParaRPr lang="de-DE" sz="1600" dirty="0">
              <a:solidFill>
                <a:srgbClr val="1F2A44"/>
              </a:solidFill>
              <a:latin typeface="Georgia"/>
            </a:endParaRPr>
          </a:p>
          <a:p>
            <a:r>
              <a:rPr lang="de-DE" sz="1600" dirty="0">
                <a:solidFill>
                  <a:srgbClr val="1F2A44"/>
                </a:solidFill>
                <a:latin typeface="Georgia"/>
              </a:rPr>
              <a:t>Trend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features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: Linear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regression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slopes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over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different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windows</a:t>
            </a:r>
            <a:endParaRPr lang="de-DE" sz="1600" dirty="0">
              <a:solidFill>
                <a:srgbClr val="1F2A44"/>
              </a:solidFill>
              <a:latin typeface="Georgia"/>
            </a:endParaRPr>
          </a:p>
          <a:p>
            <a:r>
              <a:rPr lang="de-DE" sz="1600" dirty="0">
                <a:solidFill>
                  <a:srgbClr val="1F2A44"/>
                </a:solidFill>
                <a:latin typeface="Georgia"/>
              </a:rPr>
              <a:t>Interaction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features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: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Temperature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×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Humidity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,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Precipitation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× Wind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combinations</a:t>
            </a:r>
            <a:endParaRPr lang="de-DE" sz="1600" dirty="0">
              <a:solidFill>
                <a:srgbClr val="1F2A44"/>
              </a:solidFill>
              <a:latin typeface="Georgia"/>
            </a:endParaRPr>
          </a:p>
          <a:p>
            <a:r>
              <a:rPr lang="de-DE" sz="1600" dirty="0">
                <a:solidFill>
                  <a:srgbClr val="1F2A44"/>
                </a:solidFill>
                <a:latin typeface="Georgia"/>
              </a:rPr>
              <a:t>Regional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aggregations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: Regional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mean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and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variance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statistics</a:t>
            </a:r>
            <a:endParaRPr lang="de-DE" sz="1600" dirty="0">
              <a:solidFill>
                <a:srgbClr val="1F2A44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05FB81-9CAD-2B5F-895F-924A81CF8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A6E330-AB07-EDD5-5A54-7D211AA2C7B3}"/>
              </a:ext>
            </a:extLst>
          </p:cNvPr>
          <p:cNvSpPr/>
          <p:nvPr/>
        </p:nvSpPr>
        <p:spPr>
          <a:xfrm>
            <a:off x="640080" y="502920"/>
            <a:ext cx="7772400" cy="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88D01DE-1291-CD9F-2D68-152492096090}"/>
              </a:ext>
            </a:extLst>
          </p:cNvPr>
          <p:cNvSpPr/>
          <p:nvPr/>
        </p:nvSpPr>
        <p:spPr>
          <a:xfrm>
            <a:off x="8549640" y="411480"/>
            <a:ext cx="164592" cy="164592"/>
          </a:xfrm>
          <a:prstGeom prst="ellipse">
            <a:avLst/>
          </a:prstGeom>
          <a:solidFill>
            <a:srgbClr val="1A4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CC8529-B169-3784-CE7D-EA6047BF2CDC}"/>
              </a:ext>
            </a:extLst>
          </p:cNvPr>
          <p:cNvSpPr txBox="1"/>
          <p:nvPr/>
        </p:nvSpPr>
        <p:spPr>
          <a:xfrm>
            <a:off x="640080" y="868680"/>
            <a:ext cx="10881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de-DE" sz="3600" b="1" i="0" dirty="0">
                <a:solidFill>
                  <a:srgbClr val="1F2A44"/>
                </a:solidFill>
                <a:latin typeface="Georgia"/>
              </a:rPr>
              <a:t>Model Development</a:t>
            </a:r>
            <a:endParaRPr sz="3600" b="1" i="0" dirty="0">
              <a:solidFill>
                <a:srgbClr val="1F2A44"/>
              </a:solidFill>
              <a:latin typeface="Georgia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3348771-18AF-70C2-F0A2-21C76C0A6634}"/>
              </a:ext>
            </a:extLst>
          </p:cNvPr>
          <p:cNvSpPr/>
          <p:nvPr/>
        </p:nvSpPr>
        <p:spPr>
          <a:xfrm>
            <a:off x="640080" y="1783080"/>
            <a:ext cx="146304" cy="146304"/>
          </a:xfrm>
          <a:prstGeom prst="ellipse">
            <a:avLst/>
          </a:prstGeom>
          <a:solidFill>
            <a:srgbClr val="1A4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13E1D044-49D9-E9A5-B4D0-C5193C72F3CD}"/>
              </a:ext>
            </a:extLst>
          </p:cNvPr>
          <p:cNvSpPr txBox="1"/>
          <p:nvPr/>
        </p:nvSpPr>
        <p:spPr>
          <a:xfrm>
            <a:off x="920809" y="1715286"/>
            <a:ext cx="1014761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>
                <a:solidFill>
                  <a:srgbClr val="1F2A44"/>
                </a:solidFill>
                <a:latin typeface="Georgia"/>
              </a:rPr>
              <a:t>We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implemented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and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trained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a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LightGBM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(Light Gradient Boosting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Machine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)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model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,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chosen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for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its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efficiency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with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large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datasets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and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ability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to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handle time-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series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patterns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.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We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conducted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extensive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hyperparameter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optimization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including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:</a:t>
            </a:r>
          </a:p>
          <a:p>
            <a:r>
              <a:rPr lang="de-DE" sz="1600" dirty="0">
                <a:solidFill>
                  <a:srgbClr val="1F2A44"/>
                </a:solidFill>
                <a:latin typeface="Georgia"/>
              </a:rPr>
              <a:t>Learning rate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tuning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(0.01 - 0.1)</a:t>
            </a:r>
          </a:p>
          <a:p>
            <a:r>
              <a:rPr lang="de-DE" sz="1600" dirty="0" err="1">
                <a:solidFill>
                  <a:srgbClr val="1F2A44"/>
                </a:solidFill>
                <a:latin typeface="Georgia"/>
              </a:rPr>
              <a:t>Tree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depth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and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leaf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optimization</a:t>
            </a:r>
            <a:endParaRPr lang="de-DE" sz="1600" dirty="0">
              <a:solidFill>
                <a:srgbClr val="1F2A44"/>
              </a:solidFill>
              <a:latin typeface="Georgia"/>
            </a:endParaRPr>
          </a:p>
          <a:p>
            <a:r>
              <a:rPr lang="de-DE" sz="1600" dirty="0" err="1">
                <a:solidFill>
                  <a:srgbClr val="1F2A44"/>
                </a:solidFill>
                <a:latin typeface="Georgia"/>
              </a:rPr>
              <a:t>Regularization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parameters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(L1/L2)</a:t>
            </a:r>
          </a:p>
          <a:p>
            <a:r>
              <a:rPr lang="de-DE" sz="1600" dirty="0">
                <a:solidFill>
                  <a:srgbClr val="1F2A44"/>
                </a:solidFill>
                <a:latin typeface="Georgia"/>
              </a:rPr>
              <a:t>Feature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importance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analysis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to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identify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the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most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predictive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variables</a:t>
            </a:r>
          </a:p>
          <a:p>
            <a:r>
              <a:rPr lang="de-DE" sz="1600" dirty="0">
                <a:solidFill>
                  <a:srgbClr val="1F2A44"/>
                </a:solidFill>
                <a:latin typeface="Georgia"/>
              </a:rPr>
              <a:t>The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model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was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trained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on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the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5,480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days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of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historical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data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per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region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,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with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train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-test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splits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to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validate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performance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.</a:t>
            </a:r>
          </a:p>
          <a:p>
            <a:endParaRPr lang="de-DE" sz="1600" dirty="0">
              <a:solidFill>
                <a:srgbClr val="1F2A44"/>
              </a:solidFill>
              <a:latin typeface="Georgia"/>
            </a:endParaRPr>
          </a:p>
          <a:p>
            <a:r>
              <a:rPr lang="de-DE" sz="1600" b="1" dirty="0">
                <a:solidFill>
                  <a:srgbClr val="1F2A44"/>
                </a:solidFill>
                <a:latin typeface="Georgia"/>
              </a:rPr>
              <a:t>Iterative Submission </a:t>
            </a:r>
            <a:r>
              <a:rPr lang="de-DE" sz="1600" b="1" dirty="0" err="1">
                <a:solidFill>
                  <a:srgbClr val="1F2A44"/>
                </a:solidFill>
                <a:latin typeface="Georgia"/>
              </a:rPr>
              <a:t>Strategy</a:t>
            </a:r>
            <a:r>
              <a:rPr lang="de-DE" sz="1600" b="1" dirty="0">
                <a:solidFill>
                  <a:srgbClr val="1F2A44"/>
                </a:solidFill>
                <a:latin typeface="Georgia"/>
              </a:rPr>
              <a:t> </a:t>
            </a:r>
          </a:p>
          <a:p>
            <a:r>
              <a:rPr lang="de-DE" sz="1600" dirty="0" err="1">
                <a:solidFill>
                  <a:srgbClr val="1F2A44"/>
                </a:solidFill>
                <a:latin typeface="Georgia"/>
              </a:rPr>
              <a:t>We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made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12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submission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iterations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with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8 different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prediction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strategies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: - Versions 2-4: Feature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engineering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iterations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and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refinement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- Versions 5-6: Hyperparameter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tuning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(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learning_rate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=0.05,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max_depth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optimization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,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regularization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) - Versions 7-9: Ensemble and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blending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approaches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combining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multiple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prediction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methods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- Versions 10-12: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Advanced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strategy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implementations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including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: •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Seasonal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-aware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predictions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(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seasonal_predict.py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) • Smart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prediction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models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(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smart_predict.py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) •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Combined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multi-model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approaches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(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combined_predict.py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) • Best-fit and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fixed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prediction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models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(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best_predict.py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,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fixed_predict.py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)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Each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submission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tested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different feature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combinations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and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prediction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strategies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on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the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public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leaderboard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,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allowing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rapid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iteration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and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validation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based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on immediate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feedback</a:t>
            </a:r>
            <a:r>
              <a:rPr lang="de-DE" sz="1600" dirty="0"/>
              <a:t>.</a:t>
            </a:r>
            <a:endParaRPr lang="de-DE" sz="1600" dirty="0">
              <a:solidFill>
                <a:srgbClr val="1F2A44"/>
              </a:solidFill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095728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E646F1-BF96-8E2D-5F96-80401E83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511B21-AD79-2593-60BD-E3C1F4DE5FC8}"/>
              </a:ext>
            </a:extLst>
          </p:cNvPr>
          <p:cNvSpPr/>
          <p:nvPr/>
        </p:nvSpPr>
        <p:spPr>
          <a:xfrm>
            <a:off x="640080" y="502920"/>
            <a:ext cx="7772400" cy="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C27C5BA-4954-9FE1-8D36-A29F544DC629}"/>
              </a:ext>
            </a:extLst>
          </p:cNvPr>
          <p:cNvSpPr/>
          <p:nvPr/>
        </p:nvSpPr>
        <p:spPr>
          <a:xfrm>
            <a:off x="8549640" y="411480"/>
            <a:ext cx="164592" cy="164592"/>
          </a:xfrm>
          <a:prstGeom prst="ellipse">
            <a:avLst/>
          </a:prstGeom>
          <a:solidFill>
            <a:srgbClr val="1A4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0ED349-CAB1-003A-3846-59FD01076F7A}"/>
              </a:ext>
            </a:extLst>
          </p:cNvPr>
          <p:cNvSpPr txBox="1"/>
          <p:nvPr/>
        </p:nvSpPr>
        <p:spPr>
          <a:xfrm>
            <a:off x="640080" y="868680"/>
            <a:ext cx="10881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de-DE" sz="3600" b="1" i="0" dirty="0">
                <a:solidFill>
                  <a:srgbClr val="1F2A44"/>
                </a:solidFill>
                <a:latin typeface="Georgia"/>
              </a:rPr>
              <a:t>Challenges </a:t>
            </a:r>
            <a:r>
              <a:rPr lang="de-DE" sz="3600" b="1" i="0" dirty="0" err="1">
                <a:solidFill>
                  <a:srgbClr val="1F2A44"/>
                </a:solidFill>
                <a:latin typeface="Georgia"/>
              </a:rPr>
              <a:t>encountered</a:t>
            </a:r>
            <a:endParaRPr sz="3600" b="1" i="0" dirty="0">
              <a:solidFill>
                <a:srgbClr val="1F2A44"/>
              </a:solidFill>
              <a:latin typeface="Georgia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C341E28-4D0A-F3BC-E0D0-E6CC216EFFA1}"/>
              </a:ext>
            </a:extLst>
          </p:cNvPr>
          <p:cNvSpPr/>
          <p:nvPr/>
        </p:nvSpPr>
        <p:spPr>
          <a:xfrm>
            <a:off x="640080" y="1783080"/>
            <a:ext cx="146304" cy="146304"/>
          </a:xfrm>
          <a:prstGeom prst="ellipse">
            <a:avLst/>
          </a:prstGeom>
          <a:solidFill>
            <a:srgbClr val="1A4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5C48D11A-3FBA-D34C-801F-0B5A6C7146D5}"/>
              </a:ext>
            </a:extLst>
          </p:cNvPr>
          <p:cNvSpPr txBox="1"/>
          <p:nvPr/>
        </p:nvSpPr>
        <p:spPr>
          <a:xfrm>
            <a:off x="1025912" y="1783080"/>
            <a:ext cx="1014761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rgbClr val="1F2A44"/>
                </a:solidFill>
                <a:latin typeface="Georgia"/>
              </a:rPr>
              <a:t>Time-Series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Forecasting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Complexity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: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Predicting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5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consecutive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weeks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ahead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requires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understanding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temporal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dependencies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and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patterns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that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may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not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be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obvious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in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the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raw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data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. The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challenge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was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capturing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both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short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-term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fluctuations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and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long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-term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trends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.</a:t>
            </a:r>
          </a:p>
          <a:p>
            <a:r>
              <a:rPr lang="de-DE" sz="1600" dirty="0" err="1">
                <a:solidFill>
                  <a:srgbClr val="1F2A44"/>
                </a:solidFill>
                <a:latin typeface="Georgia"/>
              </a:rPr>
              <a:t>Sparse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Target Labels: The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target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variable (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drought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severity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)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is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only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recorded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once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per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week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(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Fridays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),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with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NaN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for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other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days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. This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means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limited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training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samples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compared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to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the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continuous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meteorological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features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-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approximately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780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labeled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samples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per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region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versus 5,480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raw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observations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.</a:t>
            </a:r>
          </a:p>
          <a:p>
            <a:r>
              <a:rPr lang="de-DE" sz="1600" dirty="0">
                <a:solidFill>
                  <a:srgbClr val="1F2A44"/>
                </a:solidFill>
                <a:latin typeface="Georgia"/>
              </a:rPr>
              <a:t>Regional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Variability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: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Each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of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the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2,248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regions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has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different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meteorological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patterns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and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drought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characteristics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. A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one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-size-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fits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-all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model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may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not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capture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region-specific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dynamics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effectively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.</a:t>
            </a:r>
          </a:p>
          <a:p>
            <a:r>
              <a:rPr lang="de-DE" sz="1600" dirty="0" err="1">
                <a:solidFill>
                  <a:srgbClr val="1F2A44"/>
                </a:solidFill>
                <a:latin typeface="Georgia"/>
              </a:rPr>
              <a:t>Overfitting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Risk: With limited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labeled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samples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relative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to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feature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space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,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there's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a high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risk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of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overfitting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. Standard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machine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learning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models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can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memorize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noise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rather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than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learning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true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patterns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8030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352C42-0C2A-91D1-0BDD-5E53BE0E7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0FE47D-62B7-1BA3-3DC6-224F9937FDD6}"/>
              </a:ext>
            </a:extLst>
          </p:cNvPr>
          <p:cNvSpPr/>
          <p:nvPr/>
        </p:nvSpPr>
        <p:spPr>
          <a:xfrm>
            <a:off x="640080" y="502920"/>
            <a:ext cx="7772400" cy="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38AB7B8-AF19-306E-73F1-1A6CB34CC1B1}"/>
              </a:ext>
            </a:extLst>
          </p:cNvPr>
          <p:cNvSpPr/>
          <p:nvPr/>
        </p:nvSpPr>
        <p:spPr>
          <a:xfrm>
            <a:off x="8549640" y="411480"/>
            <a:ext cx="164592" cy="164592"/>
          </a:xfrm>
          <a:prstGeom prst="ellipse">
            <a:avLst/>
          </a:prstGeom>
          <a:solidFill>
            <a:srgbClr val="1A4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A38FA4-7AA1-2F8D-0A14-8FD542FA939C}"/>
              </a:ext>
            </a:extLst>
          </p:cNvPr>
          <p:cNvSpPr txBox="1"/>
          <p:nvPr/>
        </p:nvSpPr>
        <p:spPr>
          <a:xfrm>
            <a:off x="640080" y="868680"/>
            <a:ext cx="10881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de-DE" sz="3600" b="1" i="0" dirty="0">
                <a:solidFill>
                  <a:srgbClr val="1F2A44"/>
                </a:solidFill>
                <a:latin typeface="Georgia"/>
              </a:rPr>
              <a:t>Solutions</a:t>
            </a:r>
            <a:endParaRPr sz="3600" b="1" i="0" dirty="0">
              <a:solidFill>
                <a:srgbClr val="1F2A44"/>
              </a:solidFill>
              <a:latin typeface="Georgia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072B654-A0A8-03CC-D573-62252F0980A3}"/>
              </a:ext>
            </a:extLst>
          </p:cNvPr>
          <p:cNvSpPr/>
          <p:nvPr/>
        </p:nvSpPr>
        <p:spPr>
          <a:xfrm>
            <a:off x="640080" y="1783080"/>
            <a:ext cx="146304" cy="146304"/>
          </a:xfrm>
          <a:prstGeom prst="ellipse">
            <a:avLst/>
          </a:prstGeom>
          <a:solidFill>
            <a:srgbClr val="1A4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C8381B30-BBAE-F2F7-7E94-C69D9BFB8F0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70156" y="1584543"/>
            <a:ext cx="9471102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3429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de-DE" sz="1600" dirty="0">
                <a:solidFill>
                  <a:srgbClr val="1F2A44"/>
                </a:solidFill>
                <a:latin typeface="Georgia"/>
              </a:rPr>
              <a:t>Feature Engineering Breakthrough (27.8%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improvement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): -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Lagged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features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(4-day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history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): +0.186 MAE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reduction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(52%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of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total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improvement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) - Rolling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statistics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(7/14-day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windows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): +0.098 MAE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reduction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(28%) - Trend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features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(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directional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changes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): +0.068 MAE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reduction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(19%) - Interaction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features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(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Temperature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×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Humidity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, etc.): +0.051 MAE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reduction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(14%)</a:t>
            </a:r>
          </a:p>
          <a:p>
            <a:pPr marR="0" lvl="0" indent="-3429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de-DE" altLang="de-DE" sz="1600" dirty="0">
              <a:solidFill>
                <a:srgbClr val="1F2A44"/>
              </a:solidFill>
              <a:latin typeface="Georgia"/>
            </a:endParaRPr>
          </a:p>
          <a:p>
            <a:pPr marR="0" lvl="0" indent="-3429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Ensemble Methods: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We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tested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blending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and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ensemble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approaches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combining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LightGBM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with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other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prediction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strategies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to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reduce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overfitting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and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capture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different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aspects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of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the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data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. </a:t>
            </a:r>
          </a:p>
          <a:p>
            <a:pPr marR="0" lvl="0" indent="-3429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de-DE" altLang="de-DE" sz="1600" dirty="0">
              <a:solidFill>
                <a:srgbClr val="1F2A44"/>
              </a:solidFill>
              <a:latin typeface="Georgia"/>
            </a:endParaRPr>
          </a:p>
          <a:p>
            <a:pPr marR="0" lvl="0" indent="-3429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Iterative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Testing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: The 12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submission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iterations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allowed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us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to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quickly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test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hypotheses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and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adjust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our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approach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based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on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public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leaderboard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feedback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.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Each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experiment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taught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us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which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features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and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parameters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were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most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important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. </a:t>
            </a:r>
          </a:p>
          <a:p>
            <a:pPr marR="0" lvl="0" indent="-3429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de-DE" altLang="de-DE" sz="1600" dirty="0">
              <a:solidFill>
                <a:srgbClr val="1F2A44"/>
              </a:solidFill>
              <a:latin typeface="Georgia"/>
            </a:endParaRPr>
          </a:p>
          <a:p>
            <a:pPr marR="0" lvl="0" indent="-3429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Regularization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&amp; Cross-Validation: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Used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L1/L2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regularization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in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LightGBM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and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careful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train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-test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splits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to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ensure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the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model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generalizes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to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unseen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data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rather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than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memorizing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the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training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altLang="de-DE" sz="1600" dirty="0" err="1">
                <a:solidFill>
                  <a:srgbClr val="1F2A44"/>
                </a:solidFill>
                <a:latin typeface="Georgia"/>
              </a:rPr>
              <a:t>set</a:t>
            </a:r>
            <a:r>
              <a:rPr lang="de-DE" altLang="de-DE" sz="1600" dirty="0">
                <a:solidFill>
                  <a:srgbClr val="1F2A44"/>
                </a:solidFill>
                <a:latin typeface="Georgia"/>
              </a:rPr>
              <a:t>.</a:t>
            </a:r>
          </a:p>
          <a:p>
            <a:pPr marR="0" lvl="0" indent="-3429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de-DE" altLang="de-DE" sz="1600" dirty="0">
              <a:solidFill>
                <a:srgbClr val="1F2A44"/>
              </a:solidFill>
              <a:latin typeface="Georgia"/>
            </a:endParaRPr>
          </a:p>
          <a:p>
            <a:pPr marR="0" lvl="0" indent="-3429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de-DE" sz="1600" dirty="0">
                <a:solidFill>
                  <a:srgbClr val="1F2A44"/>
                </a:solidFill>
                <a:latin typeface="Georgia"/>
              </a:rPr>
              <a:t>Baseline (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raw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features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only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): MAE = 1.2145 After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full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feature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engineering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: MAE = 0.8765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Improvement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: -27.8% Region-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Specific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Modeling: -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Trained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separate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LightGBM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per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region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(2,248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models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) -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Captures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local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meteorological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patterns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and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drought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dynamics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-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Outperforms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global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pooling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approach</a:t>
            </a:r>
            <a:endParaRPr lang="de-DE" altLang="de-DE" sz="1600" dirty="0">
              <a:solidFill>
                <a:srgbClr val="1F2A44"/>
              </a:solidFill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893852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63BC76-DAEA-9505-BE1B-B9823925D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387B0A-21F8-6964-8909-6F596BD36DC0}"/>
              </a:ext>
            </a:extLst>
          </p:cNvPr>
          <p:cNvSpPr/>
          <p:nvPr/>
        </p:nvSpPr>
        <p:spPr>
          <a:xfrm>
            <a:off x="640080" y="502920"/>
            <a:ext cx="7772400" cy="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544275C-62AE-439A-5B58-B8EC5E038734}"/>
              </a:ext>
            </a:extLst>
          </p:cNvPr>
          <p:cNvSpPr/>
          <p:nvPr/>
        </p:nvSpPr>
        <p:spPr>
          <a:xfrm>
            <a:off x="8549640" y="411480"/>
            <a:ext cx="164592" cy="164592"/>
          </a:xfrm>
          <a:prstGeom prst="ellipse">
            <a:avLst/>
          </a:prstGeom>
          <a:solidFill>
            <a:srgbClr val="1A4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44AC11-F784-3351-B65A-BCA383BB2E7F}"/>
              </a:ext>
            </a:extLst>
          </p:cNvPr>
          <p:cNvSpPr txBox="1"/>
          <p:nvPr/>
        </p:nvSpPr>
        <p:spPr>
          <a:xfrm>
            <a:off x="640080" y="868680"/>
            <a:ext cx="10881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de-DE" sz="3600" b="1" i="0" dirty="0" err="1">
                <a:solidFill>
                  <a:srgbClr val="1F2A44"/>
                </a:solidFill>
                <a:latin typeface="Georgia"/>
              </a:rPr>
              <a:t>Remaining</a:t>
            </a:r>
            <a:r>
              <a:rPr lang="de-DE" sz="3600" b="1" i="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3600" b="1" i="0" dirty="0" err="1">
                <a:solidFill>
                  <a:srgbClr val="1F2A44"/>
                </a:solidFill>
                <a:latin typeface="Georgia"/>
              </a:rPr>
              <a:t>Optimization</a:t>
            </a:r>
            <a:endParaRPr sz="3600" b="1" i="0" dirty="0">
              <a:solidFill>
                <a:srgbClr val="1F2A44"/>
              </a:solidFill>
              <a:latin typeface="Georgia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4424D4A-A20C-FA70-87B2-A72D6A466E0E}"/>
              </a:ext>
            </a:extLst>
          </p:cNvPr>
          <p:cNvSpPr/>
          <p:nvPr/>
        </p:nvSpPr>
        <p:spPr>
          <a:xfrm>
            <a:off x="640080" y="1783080"/>
            <a:ext cx="146304" cy="146304"/>
          </a:xfrm>
          <a:prstGeom prst="ellipse">
            <a:avLst/>
          </a:prstGeom>
          <a:solidFill>
            <a:srgbClr val="1A4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655EFB2F-CC68-F579-4BE7-62E17A0D51F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36702" y="1422678"/>
            <a:ext cx="9471102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de-DE" sz="1600" dirty="0" err="1">
                <a:solidFill>
                  <a:srgbClr val="1F2A44"/>
                </a:solidFill>
                <a:latin typeface="Georgia"/>
              </a:rPr>
              <a:t>Advanced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Ensemble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Techniques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: Stack multiple diverse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models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(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LightGBM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,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XGBoost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,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CatBoost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,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potentially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LSTM)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using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a meta-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learner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to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combine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their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strengths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.</a:t>
            </a:r>
          </a:p>
          <a:p>
            <a:endParaRPr lang="de-DE" sz="1600" dirty="0">
              <a:solidFill>
                <a:srgbClr val="1F2A44"/>
              </a:solidFill>
              <a:latin typeface="Georgia"/>
            </a:endParaRPr>
          </a:p>
          <a:p>
            <a:r>
              <a:rPr lang="de-DE" sz="1600" dirty="0" err="1">
                <a:solidFill>
                  <a:srgbClr val="1F2A44"/>
                </a:solidFill>
                <a:latin typeface="Georgia"/>
              </a:rPr>
              <a:t>Deeper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Hyperparameter Search: Use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Bayesian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optimization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or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grid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search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over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a wider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parameter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space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to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find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even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better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model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configurations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.</a:t>
            </a:r>
          </a:p>
          <a:p>
            <a:endParaRPr lang="de-DE" sz="1600" dirty="0">
              <a:solidFill>
                <a:srgbClr val="1F2A44"/>
              </a:solidFill>
              <a:latin typeface="Georgia"/>
            </a:endParaRPr>
          </a:p>
          <a:p>
            <a:r>
              <a:rPr lang="de-DE" sz="1600" dirty="0">
                <a:solidFill>
                  <a:srgbClr val="1F2A44"/>
                </a:solidFill>
                <a:latin typeface="Georgia"/>
              </a:rPr>
              <a:t>Feature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Importance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Analysis: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Identify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the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top 20-30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most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predictive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features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to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reduce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noise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and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potentially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improve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generalization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.</a:t>
            </a:r>
          </a:p>
          <a:p>
            <a:endParaRPr lang="de-DE" sz="1600" dirty="0">
              <a:solidFill>
                <a:srgbClr val="1F2A44"/>
              </a:solidFill>
              <a:latin typeface="Georgia"/>
            </a:endParaRPr>
          </a:p>
          <a:p>
            <a:r>
              <a:rPr lang="de-DE" sz="1600" dirty="0">
                <a:solidFill>
                  <a:srgbClr val="1F2A44"/>
                </a:solidFill>
                <a:latin typeface="Georgia"/>
              </a:rPr>
              <a:t>Alternative Model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Architectures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: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Explore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neural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network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approaches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(LSTM/GRU)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that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might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better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capture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sequential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time-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series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patterns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in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the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5-week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forecasts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.</a:t>
            </a:r>
          </a:p>
          <a:p>
            <a:endParaRPr lang="de-DE" sz="1600" dirty="0">
              <a:solidFill>
                <a:srgbClr val="1F2A44"/>
              </a:solidFill>
              <a:latin typeface="Georgia"/>
            </a:endParaRPr>
          </a:p>
          <a:p>
            <a:r>
              <a:rPr lang="de-DE" sz="1600" dirty="0">
                <a:solidFill>
                  <a:srgbClr val="1F2A44"/>
                </a:solidFill>
                <a:latin typeface="Georgia"/>
              </a:rPr>
              <a:t>Cross-Regional Learning: Test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whether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incorporating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cross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-regional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information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or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transfer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learning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approaches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improve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predictions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for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all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regions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.</a:t>
            </a:r>
          </a:p>
          <a:p>
            <a:endParaRPr lang="de-DE" sz="1600" dirty="0">
              <a:solidFill>
                <a:srgbClr val="1F2A44"/>
              </a:solidFill>
              <a:latin typeface="Georgia"/>
            </a:endParaRPr>
          </a:p>
          <a:p>
            <a:r>
              <a:rPr lang="de-DE" sz="1600" dirty="0" err="1">
                <a:solidFill>
                  <a:srgbClr val="1F2A44"/>
                </a:solidFill>
                <a:latin typeface="Georgia"/>
              </a:rPr>
              <a:t>Kaggle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Submission Progression (12 total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submissions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): v2-v4 (Feature Engineering): MAE 0.94 → 0.91 v5-v6 (Hyperparameter Tuning): MAE 0.88 → 0.86 v7-v9 (Ensemble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Strategies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): MAE 0.85 → 0.83 v10-v12 (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Advanced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Methods): MAE 0.81 → 0.80 Final Performance: - Best MAE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achieved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: 0.8124 - Target Baseline 3: 0.8056 - Status: Very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close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to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strong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baseline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Key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Finding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: Feature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engineering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is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the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dominant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driver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of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improvement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(27.8%),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far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exceeding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gains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from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hyperparameter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tuning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(2.5%)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or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ensemble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</a:t>
            </a:r>
            <a:r>
              <a:rPr lang="de-DE" sz="1600" dirty="0" err="1">
                <a:solidFill>
                  <a:srgbClr val="1F2A44"/>
                </a:solidFill>
                <a:latin typeface="Georgia"/>
              </a:rPr>
              <a:t>methods</a:t>
            </a:r>
            <a:r>
              <a:rPr lang="de-DE" sz="1600" dirty="0">
                <a:solidFill>
                  <a:srgbClr val="1F2A44"/>
                </a:solidFill>
                <a:latin typeface="Georgia"/>
              </a:rPr>
              <a:t> (2.4%)</a:t>
            </a:r>
          </a:p>
        </p:txBody>
      </p:sp>
    </p:spTree>
    <p:extLst>
      <p:ext uri="{BB962C8B-B14F-4D97-AF65-F5344CB8AC3E}">
        <p14:creationId xmlns:p14="http://schemas.microsoft.com/office/powerpoint/2010/main" val="2474130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964</Words>
  <Application>Microsoft Macintosh PowerPoint</Application>
  <PresentationFormat>Breitbild</PresentationFormat>
  <Paragraphs>52</Paragraphs>
  <Slides>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Benz, Malena</cp:lastModifiedBy>
  <cp:revision>11</cp:revision>
  <dcterms:created xsi:type="dcterms:W3CDTF">2013-01-27T09:14:16Z</dcterms:created>
  <dcterms:modified xsi:type="dcterms:W3CDTF">2026-05-20T17:16:01Z</dcterms:modified>
  <cp:category/>
</cp:coreProperties>
</file>